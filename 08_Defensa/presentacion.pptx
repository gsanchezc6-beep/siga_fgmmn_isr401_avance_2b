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9" r:id="rId19"/>
    <p:sldId id="270" r:id="rId20"/>
    <p:sldId id="271" r:id="rId2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065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Cliente real e identificable (Facultad de Ciencias de la Computacion, UTEQ). RQ1 se dice textual, como en el manuscrito. Tres contribuciones: comparacion pareada y ciega sobre el mismo corpus; pipeline reproducible publicado con el dataset; y divulgacion de las complicaciones reales --- retiro de consentimiento, cierre en N=10 y su reapertura, y el fracaso de las dos vueltas del panel ampliado.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Mostrar el diagrama de contexto. Seis capacidades centrales y tres perfiles reales: docentes, coordinacion academica y servicios generales, mas el personal tecnico de TI en las sesiones de validacion. Volumen de campo: 16 entrevistas, 10 sesiones de validacion --tres con usuario tecnico-- y 12 notas de campo. Declarar que el perfil menos consultado es el tecnico y que consta como amenaza a la validez de constructo.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Diseño: cuasi-experimento apareado, ciego, con 3 jueces independientes. 51 ítems en 5 dimensiones, escala 1-5. Plan de análisis: Shapiro-Wilk, Holm-Bonferroni, bootstrap 95% IC. Mencionar el registro previo en OSF y que las desviaciones están documentadas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tabla/figura de descriptivos: en las 5 dimensiones, la mediana/media del LLM es igual o mayor que la del humano.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 de hipótesis: antes de corregir, Consistencia_interna daba p=0,012 (parecía significativo); después de Holm-Bonferroni, p=0,059 — ya no lo es. Ninguna dimensión sobrevive la corrección.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Mostrar la figura de tamanos de efecto con sus intervalos: grandes en magnitud, pero cruzan el cero. Potencia real con 3 jueces: 8,4 %; harian falta 34 observaciones apareadas para el 80 % convencional. La curva de saturacion NO se menciona aqui: va en la diapositiva 13, y alcanza inflexion en EV-23.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Implicación principal: la tendencia favorable al LLM en las cifras crudas no se sostiene estadísticamente con este tamaño de muestra. Las 4 categorías de amenazas, una frase cada una: interna, externa, constructo, conclusión.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RQ1 queda abierta: no se puede confirmar ni descartar con este tamano de muestra, y no se sobre-interpreta la tendencia favorable al LLM. Trabajo futuro: ampliar el panel a 34 jueces y con evaluadores entrenados; regenerar los dos conjuntos sobre el corpus completo de 16 entrevistas; ampliar la ronda terminal mas alla del perfil docente. Cerrar reafirmando las tres contribuciones.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 dos escenarios estan fijados de antemano: acceso por roles (RF-19) con las cuentas tecnico y admin, y cadena sensor -&gt; alerta -&gt; ticket (RF-01, RF-08, RF-11) con el simulador. Se levanta con npm install y npm start desde 05_MVP/codigo_fuente, que es la via verificada el 2026-08-29. NO usar docker compose: 05_MVP/README.md declara que nunca se ejecuto. AVISO PARA EL EQUIPO, no se proyecta: una falla total de la demostracion anula el criterio del prototipo. Ensayar el flujo exacto antes, con el servidor arrancado.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reparto es 10 minutos Sanchez, 9 Munoz y 6 Cedeno: los tres superan el minimo de cuatro por integrante. Sigue el aporte real declarado en 04_Trazabilidad/aporte_individual.csv. El equipo lo forman tres personas; los otros dos nombres del grupo del SGA no participan y su situacion consta en la solicitud de cambio de composicion, firmada el 2026-09-08.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integrante responde sin diapositivas sobre su area. Sanchez: eleccion de venue, registro previo en OSF, diseno del cuasi-experimento y significado de la potencia del 8,4 %. Munoz: matriz de trazabilidad, sincronizacion con el tablero, zonas publica y restringida, y el prototipo. Cedeno: corpus, codificacion tematica y saturacion, doble codificacion, inspeccion de Fagan y comite de cambios.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de Gestión de Aulas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2004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elicitados por un analista humano frente a los generados por un LLM: un estudio pareado y ciego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15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 · Muñoz Quiñónez, Yeranick Esther · Cedeño Ávila, Winston Damián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Estatal de Quevedo · ISR-401 Ingeniería de Requerimientos · Entrega 4 (2B)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 real, una pregunta concreta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tiene cliente identificable: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Facultad de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UTEQ. No es un dominio ficticio de curso.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279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4231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¿Los Requisitos Funcionales que genera un LLM a partir del mismo material de entrevistas son comparables en calidad a los que elicita un analista humano?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pareada y ciega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corpus de entrevistas para ambos orígenes, no un corpus distinto por brazo.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61772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6177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100% reproducible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junto con el paquete de datos completo (scripts + datos + resultados).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832104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3210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metodológica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documentan dos complicaciones reales del estudio, no se ocultan.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capacidades, tres perfiles de usuario reales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3268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ambiental en tiempo real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6052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445312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remoto de equipos de aula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3268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anomalías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052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45312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predictivo de fallas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93268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mantenimiento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6052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45312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administrativos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entrevistados: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docentes, coordinación académica, conserjería/infraestructura.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real de campo: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entrevistas, con los 3 perfiles bien representados.</a:t>
            </a:r>
            <a:endParaRPr lang="en-US" sz="1400" dirty="0"/>
          </a:p>
        </p:txBody>
      </p:sp>
      <p:pic>
        <p:nvPicPr>
          <p:cNvPr id="18" name="Image 0" descr="C:\Users\Vodruk\Desktop\SIGA_FGMMN_ISR401_AVANCE_2B\03_Modelado\Diagramas_UML\01_Context\System Context Diagram of the Intelligent Classroom Management System (SIGA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3977640" cy="23545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543800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 del sistema (extracto)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Cuasi-experimento apareado, ciego, pre-registrado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1600200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383280" y="16002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Cuasi-experimento apareado y ciego, con 3 jueces independientes de las personas entrevistadas.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42032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54203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2542032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383280" y="254203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ítems evaluados en 5 dimensiones de calidad (completitud, ausencia de ambigüedad, verificabilidad, corrección respecto de la fuente, consistencia interna), escala 1–5.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83864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483864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análisis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08960" y="3483864"/>
            <a:ext cx="8458200" cy="1051560"/>
          </a:xfrm>
          <a:prstGeom prst="roundRect">
            <a:avLst>
              <a:gd name="adj" fmla="val 521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383280" y="3483864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para elegir prueba paramétrica o no paramétrica · corrección de Holm-Bonferroni por comparaciones múltiples · tamaño del efecto con IC 95% por bootstrap.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47000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Pre-registro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08960" y="4700016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3383280" y="4700016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· DOI 10.17605/OSF.IO/7PQ3H — las desviaciones respecto del registro están documentadas explícitamente.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(1/3)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las 5 dimensiones, el LLM iguala o supera al humano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2_distribucion_por_dimen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881360" cy="2450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Media/mediana por dimensión y origen (humano vs. LLM), 5 dimensiones de calidad, escala 1–5.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914400" y="47091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crudas favorables al LLM en las 5 dimensiones.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una diferencia favorable en los datos crudos no implica, por sí sola, significancia estadística — eso se revisa en el siguiente bloque.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(2/3)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diferencia sobrevive la corrección múltiple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más cercano a significancia: Consistencia interna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corregir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0,012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parecía estadísticamente significativo (α = 0,05)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3108960"/>
            <a:ext cx="640080" cy="457200"/>
          </a:xfrm>
          <a:prstGeom prst="rightArrow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44652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Holm-Bonferroni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0,059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es significativo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5 dimensiones sobrevive la corrección por comparaciones múltiples.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(3/3)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Efectos grandes, intervalos que cruzan el cero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3_tamanos_efec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85216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55448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7132320" y="1645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8,4 %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514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estadística real con n = 3 jueces (objetivo convencional: 80 %)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0" y="333756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713232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pares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4206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jueces serían necesarios para alcanzar el 80 % de potencia convencional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Efectos grandes en magnitud, pero los intervalos de confianza al 95 % cruzan el cero: esto es exactamente lo que se espera con una muestra tan pequeña.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tendencia favorable al LLM no se sostiene aún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ejemplo concreto de por qué la corrección por comparaciones múltiples y el cálculo de potencia importan — no un formalismo.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solo 3 jueces, potencia estadística muy baja.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7220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17220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dominio, un solo idioma, un solo modelo — no generaliza sola.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4008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tuvo exposición previa parcial al conjunto humano; su corpus fuente (11 entrevistas) ya no coincide exactamente con el del conjunto humano (10, tras excluir una por retiro de consentimiento).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7220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17220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confianza muy anchos por el tamaño de muestra pequeño.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 queda abierta — con honestidad, no con evasión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4400" y="155448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confirmar ni descartar una diferencia de calidad con el tamaño de muestra actual. Se declara así explícitamente, sin sobre-interpretar la tendencia numérica favorable al LLM.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 concreto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440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panel de jueces a 34, el n requerido por el cálculo de potencia.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50208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8313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Re-generar los dos conjuntos sobre el corpus completo de 16 entrevistas.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517136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914400" y="439826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la ronda terminal más allá del perfil docente.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contribuciones del bloque 1 se sostienen con la evidencia ya mostrada.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en vivo del prototipo (MVP)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71800" y="169164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200400" y="1691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y npm start sobre Node 22.5. Es la via verificada el 2026-08-29; el despliegue con Docker se declara sin probar en 05_MVP/README.md.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71800" y="274320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200400" y="27432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fijados de antemano: acceso por roles (RF-19) y cadena sensor → alerta → ticket (RF-01, RF-08, RF-11).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794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Credenciales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379476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200400" y="379476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Únicamente las credenciales de demostración de 05_MVP/README.md. Nunca credenciales reales de personas del cliente.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5C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escenarios se recorren sobre el entorno levantado con docker compose, no sobre capturas: lo que se ve es el sistema ejecutándose.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VERIFICACIÓN Y CONTROL DE CAMBIOS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La especificación se inspeccionó con método, no se leyó por encima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Inspección de Fagan INS-01 — 16 defectos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3 críticos, 9 mayores, 4 menores. Densidad de 0,64 defectos por requisito funcional. Cinco roles repartidos entre tres personas; autor y moderador nunca coinciden.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Re-inspección REINS-01 — 15 cerrados, 1 residual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Cada defecto lo verifica quien no lo corrigió. El residual es DEF-06, la apertura individual de cámara.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Comité de control de cambios CCB-01 — 4 solicitudes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Tres aprobadas. SC-03 queda diferida porque no se verificó si la interfaz instalada expone el flujo de una cámara concreta.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Corrección = 1 residual / 25 RF = 0,04, frente a la referencia de 0,05. El margen es de un solo defecto, y lo decimos así.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TRAZABILIDAD Y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El tablero dice lo mismo que la matriz, y se comprueba por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Matriz de trazabilidad — 75 filas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41 con la cadena completa de fuente a criterio de aceptación. Las 75 tienen todos sus eslabones declarados: ninguna celda ambigua.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Tablero de gestión — 61 actividades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25 requisitos funcionales, 24 no funcionales y 12 restricciones de diseño, cada uno con su evidencia de origen, su historia y su caso de prueba.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Sincronización — 100 %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61 de 61. Ni un requisito sin actividad, ni una actividad sin requisito. Se recalcula con un script sobre el export del tablero.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Ese 100 % mide correspondencia entre dos listas, no avance: las sesenta y una actividades están en «Por hacer», que es su estado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EVIDENCIA DE CAMPO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N = 16 entrevistas, 10 sesiones de validación, 12 notas de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Corpus — 16 entrevistas transcritas y anonimizadas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Las dieciséis codificadas: 136 fragmentos bajo 50 códigos. Las seis últimas se codificaron el 6 de septiembre, repartidas por entrevista completa entre los tres.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Doble codificación — κ de Cohen 0,548 y 0,911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Dos integrantes codificaron por separado el mismo subconjunto. 0,548 a nivel de código (IC95 % [0,369 · 0,720]), acuerdo moderado; 0,911 a nivel de categoría (IC95 % [0,716 · 1,000]). Coincidimos en de qué trata el fragmento y discrepamos en el código exacto.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Validación — 10 walkthroughs, 3 con usuario técnico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Notas de campo manuscritas y contemporáneas en las seis últimas; reconstruidas y declaradas como tales en las seis de observación de entorno.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Lo que falta se dice en el propio documento. Una limitación declarada es evidencia; una limitación callada es un hallazgo del tribunal.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integrantes, veinticinco minutos repartidos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103784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Muñoz Quiñónez, Yeranick Esther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23360" y="2478024"/>
            <a:ext cx="5596128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023360" y="3191256"/>
            <a:ext cx="3730752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2478024"/>
            <a:ext cx="5596128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3191256"/>
            <a:ext cx="3730752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9756648" y="24048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10528" y="1600200"/>
            <a:ext cx="0" cy="2103120"/>
          </a:xfrm>
          <a:prstGeom prst="line">
            <a:avLst/>
          </a:prstGeom>
          <a:noFill/>
          <a:ln w="12700">
            <a:solidFill>
              <a:srgbClr val="8A9A9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870448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exigido: 4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914400" y="5669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superan el mínimo de cuatro minutos por integrante que fija la guía. El reparto sigue la contribución real que declara la matriz de aporte individual.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TextBox 25"/>
          <p:cNvSpPr txBox="1"/>
          <p:nvPr/>
        </p:nvSpPr>
        <p:spPr>
          <a:xfrm>
            <a:off x="640080" y="30906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1B4332"/>
                </a:solidFill>
                <a:latin typeface="Calibri"/>
              </a:rPr>
              <a:t>Cedeño Ávila, Winston Damián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91272" y="309067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4332"/>
                </a:solidFill>
                <a:latin typeface="Calibri"/>
              </a:rPr>
              <a:t>6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del tribunal — 10 min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OSF: 10.17605/OSF.IO/7PQ3H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github.com/gsanchezc6-beep/SIGA_FGMMN_ISR401_AVANCE_2B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 · UTEQ · ISR-401 Ingeniería de Requerimientos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1804</Words>
  <Application>Microsoft Office PowerPoint</Application>
  <PresentationFormat>Panorámica</PresentationFormat>
  <Paragraphs>146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Vodruk 9029</cp:lastModifiedBy>
  <cp:revision>2</cp:revision>
  <dcterms:created xsi:type="dcterms:W3CDTF">2026-08-26T23:14:37Z</dcterms:created>
  <dcterms:modified xsi:type="dcterms:W3CDTF">2026-09-01T22:46:25Z</dcterms:modified>
</cp:coreProperties>
</file>