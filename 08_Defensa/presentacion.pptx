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9" r:id="rId19"/>
    <p:sldId id="270" r:id="rId20"/>
    <p:sldId id="271" r:id="rId21"/>
    <p:sldId id="267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02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4.xml"/><Relationship Id="rId13" Type="http://schemas.openxmlformats.org/officeDocument/2006/relationships/slide" Target="slides/slide15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065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SIGA es un sistema real con cliente identificable (Facultad CCDD-UTEQ), no un ejercicio ficticio. Pregunta de investigación RQ1: decirla textual, tal como aparece en el manuscrito. Tres contribuciones: (1) comparación pareada y ciega sobre el mismo corpus, (2) pipeline reproducible publicado con el dataset, (3) divulgación explícita de dos complicaciones metodológicas reales (retiro de consentimiento, saturación no alcanzada) en vez de ocultarlas.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el diagrama de contexto en pantalla. Las 6 capacidades centrales de SIGA. Los tres perfiles de usuario reales entrevistados. Mencionar brevemente el volumen real de campo: 10 entrevistas válidas, con al menos 3 perfiles bien representados.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Diseño: cuasi-experimento apareado, ciego, con 3 jueces independientes. 51 ítems en 5 dimensiones, escala 1-5. Plan de análisis: Shapiro-Wilk, Holm-Bonferroni, bootstrap 95% IC. Mencionar el registro previo en OSF y que las desviaciones están documentadas explícitamente.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la tabla/figura de descriptivos: en las 5 dimensiones, la mediana/media del LLM es igual o mayor que la del humano.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la tabla de hipótesis: antes de corregir, Consistencia_interna daba p=0,012 (parecía significativo); después de Holm-Bonferroni, p=0,059 — ya no lo es. Ninguna dimensión sobrevive la corrección.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la figura de tamaños de efecto con sus intervalos de confianza: efectos grandes en magnitud, pero intervalos que cruzan el cero. Mostrar el cálculo de potencia: con 3 jueces, potencia real = 8,4%; se necesitarían 34 pares para el 80% convencional. Esto explica por qué los intervalos son tan anchos. Mencionar brevemente la curva de saturación temática: no llegó a inflexión, y por qué (código sin consolidar) — un párrafo, no más de 30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Implicación principal: la tendencia favorable al LLM en las cifras crudas no se sostiene estadísticamente con este tamaño de muestra. Las 4 categorías de amenazas, una frase cada una: interna, externa, constructo, conclusión.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a RQ1: no se puede confirmar ni descartar una diferencia de calidad con el tamaño de muestra actual. Trabajo futuro: ampliar el panel a 34 jueces, re-generar el Conjunto A sobre el corpus corregido de 10 entrevistas, aplicar codificación axial y recalcular la curva de saturación. Cerrar reafirmando las 3 contribuciones del bloque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Ejecutar en vivo los dos escenarios de la matriz de trazabilidad ya identificados de antemano — decidir cuáles antes del simulacro, no improvisar el día de la defensa. Usar únicamente las credenciales de demostración.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Gilces Carranza no participa en el reparto de tiempos: no aportó al trabajo real (0 commits verificables) y la defensa evalúa capacidad individual — si asiste, su desempeño es su responsabilidad individual (gatekeeper G7), no un riesgo para el resto del equipo. Con el reparto actual, Muñoz queda con 3 min, por debajo del mínimo de 4 min (criterio C12). Ajustar en el simulacro de la semana 16 y volver a medir con cronómetro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integrante debe poder responder sin ayuda de las diapositivas sobre su área: Sánchez (elección de venue, registro OSF, matriz de trazabilidad, significado de la potencia del 8,4% — este último tema le corresponde a Sánchez porque Gilces, a quien correspondía por rol declarado, no aportó al trabajo real), Mendoza (UML/i* vs MVP), Cedeño (alcance y arquitectura del MVP), Muñoz (zonas [P]/[R], exclusión de EV-15). Si Gilces asiste, el tribunal puede preguntarle igual que a cualquiera; su desempeño es su responsabilidad individual (gatekeeper G7), no un riesgo para la nota del resto del equipo.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SIGA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231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Inteligente de Gestión de Aulas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68680" y="3200400"/>
            <a:ext cx="292608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822960" y="338328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 Funcionales elicitados por un analista humano frente a los generados por un LLM: un estudio pareado y ciego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349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FGMMN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7150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FC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Sánchez Cornejo, Gary Alberto · Muñoz Quiñónez, Yeranick Esther · Cedeño Ávila, Winston Damián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FC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Técnica Estatal de Quevedo · ISR-401 Ingeniería de Requerimientos · Entrega 4 (2B)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2 MIN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sistema real, una pregunta concreta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tiene cliente identificable: </a:t>
            </a:r>
            <a:r>
              <a:rPr lang="en-US" sz="15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Facultad de </a:t>
            </a:r>
            <a:r>
              <a:rPr lang="en-US" sz="1500" dirty="0" err="1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Ciencias</a:t>
            </a:r>
            <a:r>
              <a:rPr lang="en-US" sz="15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</a:t>
            </a:r>
            <a:r>
              <a:rPr lang="en-US" sz="1500" dirty="0" err="1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Computación</a:t>
            </a:r>
            <a:r>
              <a:rPr lang="en-US" sz="15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UTEQ. No es un dominio ficticio de curso.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EDF2E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914400" y="242316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279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42316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¿Los Requisitos Funcionales que genera un LLM a partir del mismo material de entrevistas son comparables en calidad a los que elicita un analista humano?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70332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blurRad="76200" dist="25400" dir="5400000" algn="bl" rotWithShape="0">
              <a:srgbClr val="9AA79F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914400" y="397764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1440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6177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pareada y ciega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1206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5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corpus de entrevistas para ambos orígenes, no un corpus distinto por brazo.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43400" y="370332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blurRad="76200" dist="25400" dir="5400000" algn="bl" rotWithShape="0">
              <a:srgbClr val="9AA79F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617720" y="397764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61772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46177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100% reproducible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51206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5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Publicado junto con el paquete de datos completo (scripts + datos + resultados).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0" y="370332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blurRad="76200" dist="25400" dir="5400000" algn="bl" rotWithShape="0">
              <a:srgbClr val="9AA79F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8321040" y="397764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83210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46177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 metodológica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51206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5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documentan dos complicaciones reales del estudio, no se ocultan.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· Equipo FGMMN · Entrega 4 (2B)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3 MIN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capacidades, tres perfiles de usuario reales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55064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32688" y="152704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ambiental en tiempo real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60520" y="1655064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4453128" y="152704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remoto de equipos de aula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221992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32688" y="209397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anomalías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60520" y="2221992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4453128" y="209397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predictivo de fallas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788920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932688" y="266090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mantenimiento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60520" y="2788920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453128" y="266090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administrativos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6576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 entrevistados: </a:t>
            </a:r>
            <a:r>
              <a:rPr lang="en-US" sz="14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docentes, coordinación académica, conserjería/infraestructura.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11480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real de campo: </a:t>
            </a:r>
            <a:r>
              <a:rPr lang="en-US" sz="14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entrevistas, con los 3 perfiles bien representados.</a:t>
            </a:r>
            <a:endParaRPr lang="en-US" sz="1400" dirty="0"/>
          </a:p>
        </p:txBody>
      </p:sp>
      <p:pic>
        <p:nvPicPr>
          <p:cNvPr id="18" name="Image 0" descr="C:\Users\Vodruk\Desktop\SIGA_FGMMN_ISR401_AVANCE_2B\03_Modelado\Diagramas_UML\01_Context\System Context Diagram of the Intelligent Classroom Management System (SIGA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463040"/>
            <a:ext cx="3977640" cy="235458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7543800" y="385876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contexto del sistema (extracto)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· Equipo FGMMN · Entrega 4 (2B)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3 MIN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Cuasi-experimento apareado, ciego, pre-registrado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108960" y="1600200"/>
            <a:ext cx="8458200" cy="777240"/>
          </a:xfrm>
          <a:prstGeom prst="roundRect">
            <a:avLst>
              <a:gd name="adj" fmla="val 7059"/>
            </a:avLst>
          </a:prstGeom>
          <a:solidFill>
            <a:srgbClr val="EDF2E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3383280" y="160020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Cuasi-experimento apareado y ciego, con 3 jueces independientes de las personas entrevistadas.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542032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40080" y="254203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108960" y="2542032"/>
            <a:ext cx="8458200" cy="777240"/>
          </a:xfrm>
          <a:prstGeom prst="roundRect">
            <a:avLst>
              <a:gd name="adj" fmla="val 7059"/>
            </a:avLst>
          </a:prstGeom>
          <a:solidFill>
            <a:srgbClr val="EDF2E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3383280" y="2542032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ítems evaluados en 5 dimensiones de calidad (completitud, ausencia de ambigüedad, verificabilidad, corrección respecto de la fuente, consistencia interna), escala 1–5.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483864"/>
            <a:ext cx="2331720" cy="1051560"/>
          </a:xfrm>
          <a:prstGeom prst="roundRect">
            <a:avLst>
              <a:gd name="adj" fmla="val 5217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40080" y="3483864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análisis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108960" y="3483864"/>
            <a:ext cx="8458200" cy="1051560"/>
          </a:xfrm>
          <a:prstGeom prst="roundRect">
            <a:avLst>
              <a:gd name="adj" fmla="val 5217"/>
            </a:avLst>
          </a:prstGeom>
          <a:solidFill>
            <a:srgbClr val="EDF2E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3383280" y="3483864"/>
            <a:ext cx="7955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Shapiro-Wilk para elegir prueba paramétrica o no paramétrica · corrección de Holm-Bonferroni por comparaciones múltiples · tamaño del efecto con IC 95% por bootstrap.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700016"/>
            <a:ext cx="2331720" cy="777240"/>
          </a:xfrm>
          <a:prstGeom prst="roundRect">
            <a:avLst>
              <a:gd name="adj" fmla="val 7059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40080" y="4700016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Pre-registro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108960" y="4700016"/>
            <a:ext cx="8458200" cy="777240"/>
          </a:xfrm>
          <a:prstGeom prst="roundRect">
            <a:avLst>
              <a:gd name="adj" fmla="val 7059"/>
            </a:avLst>
          </a:prstGeom>
          <a:solidFill>
            <a:srgbClr val="EDF2E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3383280" y="4700016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OSF · DOI 10.17605/OSF.IO/7PQ3H — las desviaciones respecto del registro están documentadas explícitamente.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· Equipo FGMMN · Entrega 4 (2B)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6 MIN — RESULTADOS (1/3)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las 5 dimensiones, el LLM iguala o supera al humano</a:t>
            </a:r>
            <a:endParaRPr lang="en-US" sz="3200" dirty="0"/>
          </a:p>
        </p:txBody>
      </p:sp>
      <p:pic>
        <p:nvPicPr>
          <p:cNvPr id="4" name="Image 0" descr="C:\Users\Vodruk\Desktop\SIGA_FGMMN_ISR401_AVANCE_2B\07_Publicacion\figuras\fig02_distribucion_por_dimen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91640"/>
            <a:ext cx="10881360" cy="24505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42062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Media/mediana por dimensión y origen (humano vs. LLM), 5 dimensiones de calidad, escala 1–5.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0080" y="470916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EDF2E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914400" y="4709160"/>
            <a:ext cx="10332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crudas favorables al LLM en las 5 dimensiones. </a:t>
            </a:r>
            <a:r>
              <a:rPr lang="en-US" sz="15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una diferencia favorable en los datos crudos no implica, por sí sola, significancia estadística — eso se revisa en el siguiente bloque.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· Equipo FGMMN · Entrega 4 (2B)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6 MIN — RESULTADOS (2/3)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Ninguna diferencia sobrevive la corrección múltiple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 más cercano a significancia: Consistencia interna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EDF2E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640080" y="2514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corregir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803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0,012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40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45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parecía estadísticamente significativo (α = 0,05)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89320" y="3108960"/>
            <a:ext cx="640080" cy="457200"/>
          </a:xfrm>
          <a:prstGeom prst="rightArrow">
            <a:avLst/>
          </a:prstGeom>
          <a:solidFill>
            <a:srgbClr val="D9A4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446520" y="228600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46520" y="2514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 Holm-Bonferroni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8803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0,059</a:t>
            </a:r>
            <a:endParaRPr lang="en-US" sz="46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3840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no es significativo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709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de las 5 dimensiones sobrevive la corrección por comparaciones múltiples.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· Equipo FGMMN · Entrega 4 (2B)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6 MIN — RESULTADOS (3/3)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Efectos grandes, intervalos que cruzan el cero</a:t>
            </a:r>
            <a:endParaRPr lang="en-US" sz="3200" dirty="0"/>
          </a:p>
        </p:txBody>
      </p:sp>
      <p:pic>
        <p:nvPicPr>
          <p:cNvPr id="4" name="Image 0" descr="C:\Users\Vodruk\Desktop\SIGA_FGMMN_ISR401_AVANCE_2B\07_Publicacion\figuras\fig03_tamanos_efec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5852160" cy="3758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0" y="1554480"/>
            <a:ext cx="4663440" cy="1600200"/>
          </a:xfrm>
          <a:prstGeom prst="roundRect">
            <a:avLst>
              <a:gd name="adj" fmla="val 4571"/>
            </a:avLst>
          </a:prstGeom>
          <a:solidFill>
            <a:srgbClr val="EDF2E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3"/>
          <p:cNvSpPr txBox="1"/>
          <p:nvPr/>
        </p:nvSpPr>
        <p:spPr>
          <a:xfrm>
            <a:off x="7132320" y="16459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8,4 %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7132320" y="25146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 estadística real con n = 3 jueces (objetivo convencional: 80 %)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0" y="3337560"/>
            <a:ext cx="4663440" cy="1600200"/>
          </a:xfrm>
          <a:prstGeom prst="roundRect">
            <a:avLst>
              <a:gd name="adj" fmla="val 4571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7132320" y="342900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 pares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42062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jueces serían necesarios para alcanzar el 80 % de potencia convencional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858000" y="50749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Efectos grandes en magnitud, pero los intervalos de confianza al 95 % cruzan el cero: esto es exactamente lo que se espera con una muestra tan pequeña.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· Equipo FGMMN · Entrega 4 (2B)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 · 3 MIN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tendencia favorable al LLM no se sostiene aún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ejemplo concreto de por qué la corrección por comparaciones múltiples y el cálculo de potencia importan — no un formalismo.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52796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640080" y="2240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83464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solo 3 jueces, potencia estadística muy baja.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224028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172200" y="224028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52796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172200" y="2240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83464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dominio, un solo idioma, un solo modelo — no generaliza sola.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20624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40080" y="420624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52796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640080" y="4206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Constructo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8006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LLM tuvo exposición previa parcial al conjunto humano; su corpus fuente (11 entrevistas) ya no coincide exactamente con el del conjunto humano (10, tras excluir una por retiro de consentimiento).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200" y="420624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172200" y="420624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52796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6172200" y="4206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Conclusión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48006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Intervalos de confianza muy anchos por el tamaño de muestra pequeño.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· Equipo FGMMN · Entrega 4 (2B)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6 · 3 MIN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 queda abierta — con honestidad, no con evasión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EDF2E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14400" y="155448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puede confirmar ni descartar una diferencia de calidad con el tamaño de muestra actual. Se declara así explícitamente, sin sobre-interpretar la tendencia numérica favorable al LLM.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futuro concreto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383280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914400" y="32644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el panel de jueces a 34, el n requerido por el cálculo de potencia.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950208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14400" y="383133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Re-generar los dos conjuntos sobre el corpus completo de 16 entrevistas.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517136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914400" y="439826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la ronda terminal más allá del perfil docente.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2578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3 contribuciones del bloque 1 se sostienen con la evidencia ya mostrada.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· Equipo FGMMN · Entrega 4 (2B)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7 · 2 MIN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en vivo del prototipo (MVP)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194560" cy="868680"/>
          </a:xfrm>
          <a:prstGeom prst="roundRect">
            <a:avLst>
              <a:gd name="adj" fmla="val 6316"/>
            </a:avLst>
          </a:prstGeom>
          <a:solidFill>
            <a:srgbClr val="52796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Entorno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971800" y="1691640"/>
            <a:ext cx="8595360" cy="868680"/>
          </a:xfrm>
          <a:prstGeom prst="roundRect">
            <a:avLst>
              <a:gd name="adj" fmla="val 6316"/>
            </a:avLst>
          </a:prstGeom>
          <a:solidFill>
            <a:srgbClr val="EDF2E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3200400" y="169164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— entorno estable ya verificado antes de la defensa.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2194560" cy="868680"/>
          </a:xfrm>
          <a:prstGeom prst="roundRect">
            <a:avLst>
              <a:gd name="adj" fmla="val 6316"/>
            </a:avLst>
          </a:prstGeom>
          <a:solidFill>
            <a:srgbClr val="52796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40080" y="27432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971800" y="2743200"/>
            <a:ext cx="8595360" cy="868680"/>
          </a:xfrm>
          <a:prstGeom prst="roundRect">
            <a:avLst>
              <a:gd name="adj" fmla="val 6316"/>
            </a:avLst>
          </a:prstGeom>
          <a:solidFill>
            <a:srgbClr val="EDF2E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3200400" y="274320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escenarios de la matriz de trazabilidad, identificados de antemano.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2194560" cy="868680"/>
          </a:xfrm>
          <a:prstGeom prst="roundRect">
            <a:avLst>
              <a:gd name="adj" fmla="val 6316"/>
            </a:avLst>
          </a:prstGeom>
          <a:solidFill>
            <a:srgbClr val="52796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40080" y="37947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Credenciales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971800" y="3794760"/>
            <a:ext cx="8595360" cy="868680"/>
          </a:xfrm>
          <a:prstGeom prst="roundRect">
            <a:avLst>
              <a:gd name="adj" fmla="val 6316"/>
            </a:avLst>
          </a:prstGeom>
          <a:solidFill>
            <a:srgbClr val="EDF2E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3200400" y="379476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Únicamente las credenciales de demostración de 05_MVP/README.md. Nunca credenciales reales de personas del cliente.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9834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5C1A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914400" y="49834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 total de la demostración ⇒ C13 = 0. Practicar el flujo exacto antes, con la red ya verificada.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· Equipo FGMMN · Entrega 4 (2B)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2796F"/>
                </a:solidFill>
                <a:latin typeface="Calibri"/>
              </a:rPr>
              <a:t>BLOQUE 8 · 3 MIN — VERIFICACIÓN Y CONTROL DE CAMBIOS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4332"/>
                </a:solidFill>
                <a:latin typeface="Cambria"/>
              </a:rPr>
              <a:t>La especificación se inspeccionó con método, no se leyó por encima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4332"/>
                </a:solidFill>
                <a:latin typeface="Calibri"/>
              </a:rPr>
              <a:t>Inspección de Fagan INS-01 — 16 defectos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4767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A72"/>
                </a:solidFill>
                <a:latin typeface="Calibri"/>
              </a:rPr>
              <a:t>3 críticos, 9 mayores, 4 menores. Densidad de 0,64 defectos por requisito funcional. Cinco roles repartidos entre tres personas; autor y moderador nunca coinciden.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4332"/>
                </a:solidFill>
                <a:latin typeface="Calibri"/>
              </a:rPr>
              <a:t>Re-inspección REINS-01 — 15 cerrados, 1 residual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9923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A72"/>
                </a:solidFill>
                <a:latin typeface="Calibri"/>
              </a:rPr>
              <a:t>Cada defecto lo verifica quien no lo corrigió. El residual es DEF-06, la apertura individual de cámara.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033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4332"/>
                </a:solidFill>
                <a:latin typeface="Calibri"/>
              </a:rPr>
              <a:t>Comité de control de cambios CCB-01 — 4 solicitudes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50791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A72"/>
                </a:solidFill>
                <a:latin typeface="Calibri"/>
              </a:rPr>
              <a:t>Tres aprobadas. SC-03 queda diferida porque no se verificó si la interfaz instalada expone el flujo de una cámara concreta.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74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4332"/>
                </a:solidFill>
                <a:latin typeface="Calibri"/>
              </a:rPr>
              <a:t>Corrección = 1 residual / 25 RF = 0,04, frente a la referencia de 0,05. El margen es de un solo defecto, y lo decimos así.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A9A93"/>
                </a:solidFill>
                <a:latin typeface="Calibri"/>
              </a:rPr>
              <a:t>SIGA · Equipo FGMMN · Entrega 4 (2B)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A9A93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2796F"/>
                </a:solidFill>
                <a:latin typeface="Calibri"/>
              </a:rPr>
              <a:t>BLOQUE 8 · 3 MIN — TRAZABILIDAD Y GESTIÓN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4332"/>
                </a:solidFill>
                <a:latin typeface="Cambria"/>
              </a:rPr>
              <a:t>El tablero dice lo mismo que la matriz, y se comprueba por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4332"/>
                </a:solidFill>
                <a:latin typeface="Calibri"/>
              </a:rPr>
              <a:t>Matriz de trazabilidad — 75 filas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4767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A72"/>
                </a:solidFill>
                <a:latin typeface="Calibri"/>
              </a:rPr>
              <a:t>41 con la cadena completa de fuente a criterio de aceptación. Las 75 tienen todos sus eslabones declarados: ninguna celda ambigua.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4332"/>
                </a:solidFill>
                <a:latin typeface="Calibri"/>
              </a:rPr>
              <a:t>Tablero de gestión — 61 actividades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9923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A72"/>
                </a:solidFill>
                <a:latin typeface="Calibri"/>
              </a:rPr>
              <a:t>25 requisitos funcionales, 24 no funcionales y 11 restricciones de diseño, cada uno con su evidencia de origen, su historia y su caso de prueba.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033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4332"/>
                </a:solidFill>
                <a:latin typeface="Calibri"/>
              </a:rPr>
              <a:t>Sincronización — 100 %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50791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A72"/>
                </a:solidFill>
                <a:latin typeface="Calibri"/>
              </a:rPr>
              <a:t>61 de 61. Ni un requisito sin actividad, ni una actividad sin requisito. Se recalcula con un script sobre el export del tablero.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74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4332"/>
                </a:solidFill>
                <a:latin typeface="Calibri"/>
              </a:rPr>
              <a:t>Ese 100 % mide correspondencia entre dos listas, no avance: las sesenta y una actividades están en «Por hacer», que es su estado real.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A9A93"/>
                </a:solidFill>
                <a:latin typeface="Calibri"/>
              </a:rPr>
              <a:t>SIGA · Equipo FGMMN · Entrega 4 (2B)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A9A93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2796F"/>
                </a:solidFill>
                <a:latin typeface="Calibri"/>
              </a:rPr>
              <a:t>BLOQUE 8 · 3 MIN — EVIDENCIA DE CAMPO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4332"/>
                </a:solidFill>
                <a:latin typeface="Cambria"/>
              </a:rPr>
              <a:t>N = 16 entrevistas, 10 sesiones de validación, 12 notas de campo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4332"/>
                </a:solidFill>
                <a:latin typeface="Calibri"/>
              </a:rPr>
              <a:t>Corpus — 16 entrevistas transcritas y anonimizadas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4767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A72"/>
                </a:solidFill>
                <a:latin typeface="Calibri"/>
              </a:rPr>
              <a:t>Las dieciséis codificadas: 136 fragmentos bajo 50 códigos. Las seis últimas se codificaron el 6 de septiembre, repartidas por entrevista completa entre los tres.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4332"/>
                </a:solidFill>
                <a:latin typeface="Calibri"/>
              </a:rPr>
              <a:t>Doble codificación — κ de Cohen 0,635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9923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A72"/>
                </a:solidFill>
                <a:latin typeface="Calibri"/>
              </a:rPr>
              <a:t>Dos integrantes codificaron por separado el mismo subconjunto. IC95 % [0,371 · 0,847]: acuerdo sustancial en la escala de Landis y Koch.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033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4332"/>
                </a:solidFill>
                <a:latin typeface="Calibri"/>
              </a:rPr>
              <a:t>Validación — 10 walkthroughs, 3 con usuario técnico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50791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A72"/>
                </a:solidFill>
                <a:latin typeface="Calibri"/>
              </a:rPr>
              <a:t>Notas de campo manuscritas y contemporáneas en las seis últimas; reconstruidas y declaradas como tales en las seis de observación de entorno.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74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4332"/>
                </a:solidFill>
                <a:latin typeface="Calibri"/>
              </a:rPr>
              <a:t>Lo que falta se dice en el propio documento. Una limitación declarada es evidencia; una limitación callada es un hallazgo del tribunal.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A9A93"/>
                </a:solidFill>
                <a:latin typeface="Calibri"/>
              </a:rPr>
              <a:t>SIGA · Equipo FGMMN · Entrega 4 (2B)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A9A93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integrantes, veinticinco minutos repartidos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Sánchez Cornejo, Gary Alberto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023360" y="1764792"/>
            <a:ext cx="6217920" cy="310896"/>
          </a:xfrm>
          <a:prstGeom prst="roundRect">
            <a:avLst>
              <a:gd name="adj" fmla="val 11765"/>
            </a:avLst>
          </a:prstGeom>
          <a:solidFill>
            <a:srgbClr val="E4E9E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023360" y="1764792"/>
            <a:ext cx="6217920" cy="310896"/>
          </a:xfrm>
          <a:prstGeom prst="roundRect">
            <a:avLst>
              <a:gd name="adj" fmla="val 11765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10378440" y="1691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048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Muñoz Quiñónez, Yeranick Esther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023360" y="2478024"/>
            <a:ext cx="9793224" cy="310896"/>
          </a:xfrm>
          <a:prstGeom prst="roundRect">
            <a:avLst>
              <a:gd name="adj" fmla="val 11765"/>
            </a:avLst>
          </a:prstGeom>
          <a:solidFill>
            <a:srgbClr val="E4E9E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023360" y="3191256"/>
            <a:ext cx="6528816" cy="310896"/>
          </a:xfrm>
          <a:prstGeom prst="roundRect">
            <a:avLst>
              <a:gd name="adj" fmla="val 11765"/>
            </a:avLst>
          </a:prstGeom>
          <a:solidFill>
            <a:srgbClr val="E4E9E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023360" y="2478024"/>
            <a:ext cx="9793224" cy="310896"/>
          </a:xfrm>
          <a:prstGeom prst="roundRect">
            <a:avLst>
              <a:gd name="adj" fmla="val 11765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023360" y="3191256"/>
            <a:ext cx="6528816" cy="310896"/>
          </a:xfrm>
          <a:prstGeom prst="roundRect">
            <a:avLst>
              <a:gd name="adj" fmla="val 11765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10378440" y="24048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36566" y="1600200"/>
            <a:ext cx="0" cy="2103120"/>
          </a:xfrm>
          <a:prstGeom prst="line">
            <a:avLst/>
          </a:prstGeom>
          <a:noFill/>
          <a:ln w="12700">
            <a:solidFill>
              <a:srgbClr val="8A9A93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5387926" y="3611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exigido: 4 min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56692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DF2E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914400" y="56692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superan el mínimo de cuatro minutos por integrante que fija la guía. El reparto sigue la contribución real que declara la matriz de aporte individual.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· Equipo FGMMN · Entrega 4 (2B)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6" name="TextBox 25"/>
          <p:cNvSpPr txBox="1"/>
          <p:nvPr/>
        </p:nvSpPr>
        <p:spPr>
          <a:xfrm>
            <a:off x="636422" y="30906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1B4332"/>
                </a:solidFill>
                <a:latin typeface="Calibri"/>
              </a:rPr>
              <a:t>Cedeño Ávila, Winston Damián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78440" y="309067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B4332"/>
                </a:solidFill>
                <a:latin typeface="Calibri"/>
              </a:rPr>
              <a:t>6 min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822960" y="21945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del tribunal — 10 min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68680" y="3886200"/>
            <a:ext cx="292608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822960" y="4114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FC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OSF: 10.17605/OSF.IO/7PQ3H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FC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Repositorio: github.com/gsanchezc6-beep/SIGA_FGMMN_ISR401_AVANCE_2B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FGMMN · UTEQ · ISR-401 Ingeniería de Requerimientos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1804</Words>
  <Application>Microsoft Office PowerPoint</Application>
  <PresentationFormat>Panorámica</PresentationFormat>
  <Paragraphs>146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Vodruk 9029</cp:lastModifiedBy>
  <cp:revision>2</cp:revision>
  <dcterms:created xsi:type="dcterms:W3CDTF">2026-08-26T23:14:37Z</dcterms:created>
  <dcterms:modified xsi:type="dcterms:W3CDTF">2026-09-01T22:46:25Z</dcterms:modified>
</cp:coreProperties>
</file>