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9" r:id="rId19"/>
    <p:sldId id="270" r:id="rId20"/>
    <p:sldId id="271" r:id="rId2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065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 es un sistema real con cliente identificable (Facultad CCDD-UTEQ), no un ejercicio ficticio. Pregunta de investigación RQ1: decirla textual, tal como aparece en el manuscrito. Tres contribuciones: (1) comparación pareada y ciega sobre el mismo corpus, (2) pipeline reproducible publicado con el dataset, (3) divulgación explícita de dos complicaciones metodológicas reales (retiro de consentimiento, saturación no alcanzada) en vez de ocultarlas.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diagrama de contexto en pantalla. Las 6 capacidades centrales de SIGA. Los tres perfiles de usuario reales entrevistados. Mencionar brevemente el volumen real de campo: 10 entrevistas válidas, con al menos 3 perfiles bien representados.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figura de tamaños de efecto con sus intervalos de confianza: efectos grandes en magnitud, pero intervalos que cruzan el cero. Mostrar el cálculo de potencia: con 3 jueces, potencia real = 8,4%; se necesitarían 34 pares para el 80% convencional. Esto explica por qué los intervalos son tan anchos. Mencionar brevemente la curva de saturación temática: no llegó a inflexión, y por qué (código sin consolidar) — un párrafo, no más de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RQ1: no se puede confirmar ni descartar una diferencia de calidad con el tamaño de muestra actual. Trabajo futuro: ampliar el panel a 34 jueces, re-generar el Conjunto A sobre el corpus corregido de 10 entrevistas, aplicar codificación axial y recalcular la curva de saturación. Cerrar reafirmando las 3 contribuciones del bloque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Ejecutar en vivo los dos escenarios de la matriz de trazabilidad ya identificados de antemano — decidir cuáles antes del simulacro, no improvisar el día de la defensa. Usar únicamente las credenciales de demostración.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Gilces Carranza no participa en el reparto de tiempos: no aportó al trabajo real (0 commits verificables) y la defensa evalúa capacidad individual — si asiste, su desempeño es su responsabilidad individual (gatekeeper G7), no un riesgo para el resto del equipo. Con el reparto actual, Muñoz queda con 3 min, por debajo del mínimo de 4 min (criterio C12). Ajustar en el simulacro de la semana 16 y volver a medir con cronómetro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debe poder responder sin ayuda de las diapositivas sobre su área: Sánchez (elección de venue, registro OSF, matriz de trazabilidad, significado de la potencia del 8,4% — este último tema le corresponde a Sánchez porque Gilces, a quien correspondía por rol declarado, no aportó al trabajo real), Mendoza (UML/i* vs MVP), Cedeño (alcance y arquitectura del MVP), Muñoz (zonas [P]/[R], exclusión de EV-15). Si Gilces asiste, el tribunal puede preguntarle igual que a cualquiera; su desempeño es su responsabilidad individual (gatekeeper G7), no un riesgo para la nota del resto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 · Muñoz Quiñónez, Yeranick Esther · Cedeño Ávila, Winston Damián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entrevistas válidas,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grandes, intervalos que cruzan el cero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3_tamanos_efec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grandes en magnitud, pero los intervalos de confianza al 95 % cruzan el cero: esto es exactamente lo que se espera con una muestra tan pequeña.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 queda abierta — con honestidad, no con evasión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confirmar ni descartar una diferencia de calidad con el tamaño de muestra actual. Se declara así explícitamente, sin sobre-interpretar la tendencia numérica favorable al LLM.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concreto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panel de jueces a 34, el n requerido por el cálculo de potencia.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Re-generar el Conjunto A del LLM sobre el corpus corregido de 10 entrevistas.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codificación axial y recalcular la curva de saturación temática.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contribuciones del bloque 1 se sostienen con la evidencia ya mostrada.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entorno estable ya verificado antes de la defensa.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de la matriz de trazabilidad, identificados de antemano.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total de la demostración ⇒ C13 = 0. Practicar el flujo exacto antes, con la red ya verificada.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VERIFICACIÓN Y CONTROL DE CAMBIOS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La especificación se inspeccionó con método, no se leyó por encima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Inspección de Fagan INS-01 — 16 defectos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3 críticos, 9 mayores, 4 menores. Densidad de 0,64 defectos por requisito funcional. Cinco roles repartidos entre tres personas; autor y moderador nunca coinciden.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Re-inspección REINS-01 — 15 cerrados, 1 residual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Cada defecto lo verifica quien no lo corrigió. El residual es DEF-06, la apertura individual de cámara.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Comité de control de cambios CCB-01 — 4 solicitudes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Tres aprobadas. SC-03 queda diferida porque no se verificó si la interfaz instalada expone el flujo de una cámara concreta.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Corrección = 1 residual / 25 RF = 0,04, frente a la referencia de 0,05. El margen es de un solo defecto, y lo decimos así.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TRAZABILIDAD Y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El tablero dice lo mismo que la matriz, y se comprueba por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Matriz de trazabilidad — 74 filas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41 con la cadena completa de fuente a criterio de aceptación. Las 74 tienen todos sus eslabones declarados: ninguna celda ambigua.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Tablero de gestión — 60 actividades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25 requisitos funcionales, 24 no funcionales y 11 restricciones de diseño, cada uno con su evidencia de origen, su historia y su caso de prueba.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Sincronización —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60 de 60. Ni un requisito sin actividad, ni una actividad sin requisito. Se recalcula con un script sobre el export del tablero.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Ese 100 % mide correspondencia entre dos listas, no avance: las sesenta actividades están en «Por hacer», que es su estado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EVIDENCIA DE CAMPO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N = 16 entrevistas, 9 sesiones de validación, 12 notas de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Corpus — 16 entrevistas transcritas y anonimizadas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Diez codificadas temáticamente. Las seis de la ronda terminal están transcritas y su codificación se declara pendiente en el manuscrito, en la amenaza T4.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Doble codificación — κ de Cohen 0,635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Dos integrantes codificaron por separado el mismo subconjunto. IC95 % [0,371 · 0,847]: acuerdo sustancial en la escala de Landis y Koch.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Validación — 9 walkthroughs, 2 con usuario técnico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Notas de campo manuscritas y contemporáneas en las seis últimas; reconstruidas y declaradas como tales en las seis de observación de entorno.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Lo que falta se dice en el propio documento. Una limitación declarada es evidencia; una limitación callada es un hallazgo del tribunal.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integrantes, veinticinco minutos repartidos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 Esther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9793224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023360" y="3191256"/>
            <a:ext cx="6528816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2478024"/>
            <a:ext cx="9793224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3191256"/>
            <a:ext cx="6528816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0378440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36566" y="1600200"/>
            <a:ext cx="0" cy="2103120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387926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exigido: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superan el mínimo de cuatro minutos por integrante que fija la guía. El reparto sigue la contribución real que declara la matriz de aporte individual.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636422" y="30906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B4332"/>
                </a:solidFill>
                <a:latin typeface="Calibri"/>
              </a:rPr>
              <a:t>Cedeño Ávila, Winston Damián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309067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4332"/>
                </a:solidFill>
                <a:latin typeface="Calibri"/>
              </a:rPr>
              <a:t>6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github.com/gsanchezc6-beep/SIGA_FGMMN_ISR401_AVANCE_2B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1804</Words>
  <Application>Microsoft Office PowerPoint</Application>
  <PresentationFormat>Panorámica</PresentationFormat>
  <Paragraphs>146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Vodruk 9029</cp:lastModifiedBy>
  <cp:revision>2</cp:revision>
  <dcterms:created xsi:type="dcterms:W3CDTF">2026-08-26T23:14:37Z</dcterms:created>
  <dcterms:modified xsi:type="dcterms:W3CDTF">2026-09-01T22:46:25Z</dcterms:modified>
</cp:coreProperties>
</file>